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自己紹介と一言。楽天の課題を、楽天の公式APIで、エンティティ解決という技術で解くポートフォリオです。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マーケットプレイス型ゆえに同一商品が店ごとにバラける。実質価格での比較が手作業で重い。これが解く課題。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Amazonは個人ではAPIが実質使えない。楽天はアプリID登録だけで公式APIが無料。楽天の課題を楽天のAPIで解く構成。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2フェーズ構成。まず独立WebアプリでP1完成・デプロイ。次に同じバックエンドを呼ぶ薄いChrome拡張を載せる。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このアプリの心臓部はエンティティ解決。ブロッキング→マッチング→クラスタリングの3工程が見せ場。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全商品の総当たりはO(n^2)で破綻。ルールベースのブロックキー＋FAISS近傍で候補を絞る。削減率と再現率のトレードオフを記録。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候補ペアごとに複数特徴量を作り、分類器で一致確率を出す。語彙・意味・構造の3シグナル。分類器はLightGBM、見せ場としてFlax MLPも選択肢。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ペア判定の結果を商品グループへ統合。閾値つき連結成分。A=B,B=Cだが A≠C の推移律破綻をどう扱うかが設計論点。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価格+送料-期待ポイント。送料実額とSPUはAPIで取れないので簡易モデル。近似であることを画面とREADMEに明示する。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差別化の核心。多くの応募者は既製APIを呼ぶだけで指標を持たない。手作業で200-500ペアの正解を作り、P/R/F1とアブレーションを報告する。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データ取得→保存→正規化→ブロッキング→埋め込み→マッチング→クラスタリング→API→フロント→拡張→デプロイ。一気通貫の構成。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10週間。中核6週→Webアプリ2週→拡張2週。最重要のv1は8/21完成。夏インターンと重なっても削るのはP2だけ。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層を下から積むのではなく、最初に端から端まで貫く最薄実装を通して初デプロイ。統合の不確実性を初週に潰す。名寄せの沼にはまって動くアプリが無い、を回避。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広さ（配管・UI・デプロイ）はAIに任せ、深さ（名寄せ・評価・設計判断）は自分が握る。面接で深掘りされるのは右側で、それを自分の言葉で説明できることが成立条件。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提出物：公開Webアプリ、GitHub、指標つきREADME、Chrome拡張、デモ録画。楽天の課題を楽天のAPIで、エンティティ解決という技術で解いた一気通貫のポートフォリオ。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34509B">
                  <a:alpha val="42000"/>
                </a:srgbClr>
              </a:gs>
              <a:gs pos="60000">
                <a:srgbClr val="34509B">
                  <a:alpha val="0"/>
                </a:srgbClr>
              </a:gs>
            </a:gsLst>
            <a:path path="circle">
              <a:fillToRect l="75000" t="35000" r="25000" b="65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571500"/>
            <a:ext cx="711094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RAKUTEN ICHIBA / CROSS-SHOP PRICE NORMALIZATION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5261630" y="571500"/>
            <a:ext cx="196693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v1.2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1238250" y="3080842"/>
            <a:ext cx="17392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同一商品 横断比較アプリ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639642"/>
            <a:ext cx="16285845" cy="2296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800" b="1" spc="-78" kern="0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店をまたいで、 本当に安い一品を。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238250" y="6240959"/>
            <a:ext cx="6769418" cy="10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楽天市場に散らばる同一商品を </a:t>
            </a:r>
            <a:pPr algn="l" indent="0" marL="0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名寄せ（エンティティ解決）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し、</a:t>
            </a:r>
            <a:pPr algn="l" indent="0" marL="0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実質価格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で並べ替える。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38250" y="9486900"/>
            <a:ext cx="33381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個人開発 / 就職活動ポートフォリオ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975186" y="9486900"/>
            <a:ext cx="22820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2026.06.27 → 09.06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65415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47" kern="0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解こうとしている課題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Text 3"/>
          <p:cNvSpPr/>
          <p:nvPr/>
        </p:nvSpPr>
        <p:spPr>
          <a:xfrm>
            <a:off x="804862" y="3582194"/>
            <a:ext cx="166782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同じ商品が、</a:t>
            </a:r>
            <a:pPr algn="ctr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何十もの店舗から個別に出品 </a:t>
            </a:r>
            <a:pPr algn="ctr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される。 価格・送料・ポイントが店ごとにバラバラ。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3486150" y="4839494"/>
            <a:ext cx="3619500" cy="1885950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9500" y="5144294"/>
            <a:ext cx="33528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1B1D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A店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619500" y="5722144"/>
            <a:ext cx="3352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¥7,800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619500" y="6128544"/>
            <a:ext cx="33528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送料無料・P1%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7334250" y="4839494"/>
            <a:ext cx="3619500" cy="1885950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7600" y="5144294"/>
            <a:ext cx="33528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1B1D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B店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7467600" y="5722144"/>
            <a:ext cx="3352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¥7,200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467600" y="6128544"/>
            <a:ext cx="33528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送料+700・P1%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1182350" y="4839494"/>
            <a:ext cx="3619500" cy="1885950"/>
          </a:xfrm>
          <a:prstGeom prst="roundRect">
            <a:avLst>
              <a:gd name="adj" fmla="val 7071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89161" y="4706144"/>
            <a:ext cx="1005880" cy="273050"/>
          </a:xfrm>
          <a:prstGeom prst="roundRect">
            <a:avLst>
              <a:gd name="adj" fmla="val 50000"/>
            </a:avLst>
          </a:prstGeom>
          <a:solidFill>
            <a:srgbClr val="34509B"/>
          </a:solidFill>
          <a:ln/>
        </p:spPr>
      </p:sp>
      <p:sp>
        <p:nvSpPr>
          <p:cNvPr id="16" name="Text 14"/>
          <p:cNvSpPr/>
          <p:nvPr/>
        </p:nvSpPr>
        <p:spPr>
          <a:xfrm>
            <a:off x="12603461" y="4753769"/>
            <a:ext cx="77728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実質 最安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15700" y="5144294"/>
            <a:ext cx="33528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283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C店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1315700" y="5722144"/>
            <a:ext cx="3352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¥7,900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315700" y="6128544"/>
            <a:ext cx="33528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送料無料・P10%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238125" y="7011194"/>
            <a:ext cx="178117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表示価格が一番安いB店は、送料を足すと実は割高。</a:t>
            </a:r>
            <a:pPr algn="ctr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ポイント還元まで含めるとC店が最安</a:t>
            </a:r>
            <a:pPr algn="ctr" indent="0" marL="0">
              <a:buNone/>
            </a:pPr>
            <a:r>
              <a:rPr lang="en-US" sz="195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——人間が手で見抜くのは難しい。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0" y="9224963"/>
            <a:ext cx="18288000" cy="1062038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66073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78509" y="9548813"/>
            <a:ext cx="150782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「同一商品を店舗横断で正規化し、実質価格で比較する」——この構造的課題は、まだ誰も解いていない。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92891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47" kern="0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なぜ「楽天 × 店舗横断」なのか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1724025"/>
            <a:ext cx="7295654" cy="7500938"/>
          </a:xfrm>
          <a:prstGeom prst="roundRect">
            <a:avLst>
              <a:gd name="adj" fmla="val 2089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E4E4DE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7800" y="4280694"/>
            <a:ext cx="714511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AMAZON 横断 — 不可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47800" y="4782344"/>
            <a:ext cx="3061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0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811139" y="4782344"/>
            <a:ext cx="6109338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PA-APIは売上実績が必要で個人開発では実質使えない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447800" y="5725319"/>
            <a:ext cx="3061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0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811139" y="5725319"/>
            <a:ext cx="23907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アプリ内利用は禁止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447800" y="6282532"/>
            <a:ext cx="3061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0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811139" y="6282532"/>
            <a:ext cx="617290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直接スクレイピングはToS違反・bot対策で非現実的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724404" y="5134769"/>
            <a:ext cx="59055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C3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9619754" y="1724025"/>
            <a:ext cx="7620496" cy="7500938"/>
          </a:xfrm>
          <a:prstGeom prst="roundRect">
            <a:avLst>
              <a:gd name="adj" fmla="val 2032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9805" y="4495800"/>
            <a:ext cx="75024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 RAKUTEN 店舗横断 — 採用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019805" y="4953000"/>
            <a:ext cx="2228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299799" y="4953000"/>
            <a:ext cx="49822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アプリID登録のみで公式APIが無料公開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019805" y="5510213"/>
            <a:ext cx="2189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295930" y="5510213"/>
            <a:ext cx="609247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価格・送料・ポイント・店舗・型番・属性が取れる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019805" y="6067425"/>
            <a:ext cx="2189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0295930" y="6067425"/>
            <a:ext cx="490956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「楽天の課題を、楽天の公式APIで解く」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0" y="9224963"/>
            <a:ext cx="18288000" cy="1062038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66073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878509" y="9548813"/>
            <a:ext cx="136633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技術的に実現可能で、かつ志望動機のストーリーとも噛み合う。Amazon横断は将来拡張に回す。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950298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47" kern="0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完成イメージ ── 2フェーズ構成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1724025"/>
            <a:ext cx="7924800" cy="750093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1743075"/>
            <a:ext cx="7886700" cy="755650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7" name="Shape 5"/>
          <p:cNvSpPr/>
          <p:nvPr/>
        </p:nvSpPr>
        <p:spPr>
          <a:xfrm>
            <a:off x="1352550" y="1974850"/>
            <a:ext cx="1066998" cy="292100"/>
          </a:xfrm>
          <a:prstGeom prst="roundRect">
            <a:avLst>
              <a:gd name="adj" fmla="val 2608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012950"/>
            <a:ext cx="9069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71949" y="1914525"/>
            <a:ext cx="221228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独立Webアプリ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52550" y="8205788"/>
            <a:ext cx="753465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検索すると、同一商品の店舗別出品が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実質価格の安い順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で並ぶ比較テーブル。技術的中核はすべてここ。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15450" y="1724025"/>
            <a:ext cx="7924800" cy="750093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500" y="1743075"/>
            <a:ext cx="7886700" cy="755650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3" name="Shape 11"/>
          <p:cNvSpPr/>
          <p:nvPr/>
        </p:nvSpPr>
        <p:spPr>
          <a:xfrm>
            <a:off x="9620250" y="1974850"/>
            <a:ext cx="1066998" cy="292100"/>
          </a:xfrm>
          <a:prstGeom prst="roundRect">
            <a:avLst>
              <a:gd name="adj" fmla="val 2608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2012950"/>
            <a:ext cx="9069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839649" y="1914525"/>
            <a:ext cx="237533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Chrome拡張機能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20250" y="8205788"/>
            <a:ext cx="7534656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楽天の商品ページに「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他店だと実質◯円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」を重ねて表示。バックエンドはP1を再利用する薄い表示層。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0" y="9224963"/>
            <a:ext cx="18288000" cy="1062038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66073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78509" y="9548813"/>
            <a:ext cx="132341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P1を先に完成・デプロイ。途中で時間切れになっても「動く成果物」が必ず手元に残る順序。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910756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47" kern="0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技術的中核：エンティティ解決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143000" cy="28575"/>
          </a:xfrm>
          <a:prstGeom prst="rect">
            <a:avLst/>
          </a:prstGeom>
          <a:solidFill>
            <a:srgbClr val="E7D2A0"/>
          </a:solidFill>
          <a:ln/>
        </p:spPr>
      </p:sp>
      <p:sp>
        <p:nvSpPr>
          <p:cNvPr id="5" name="Text 3"/>
          <p:cNvSpPr/>
          <p:nvPr/>
        </p:nvSpPr>
        <p:spPr>
          <a:xfrm>
            <a:off x="804862" y="3636169"/>
            <a:ext cx="16678275" cy="984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ノイズの多い商品名から「これらは</a:t>
            </a:r>
            <a:pPr algn="ctr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E7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同じ商品 </a:t>
            </a:r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だ」を機械的に束ねる。 3つの工程に分解して、各工程を測りながら積み上げる。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10780" y="4963319"/>
            <a:ext cx="3810000" cy="2349500"/>
          </a:xfrm>
          <a:prstGeom prst="roundRect">
            <a:avLst>
              <a:gd name="adj" fmla="val 6486"/>
            </a:avLst>
          </a:prstGeom>
          <a:solidFill>
            <a:srgbClr val="262826"/>
          </a:solidFill>
          <a:ln w="19050">
            <a:solidFill>
              <a:srgbClr val="3A3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4605" y="5306219"/>
            <a:ext cx="3562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34605" y="5649119"/>
            <a:ext cx="356235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ブロッキング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3147953" y="6284119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総当たりを避け、 候補ペアに絞る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4130" y="4963319"/>
            <a:ext cx="327720" cy="238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7239000" y="4963319"/>
            <a:ext cx="3810000" cy="2349500"/>
          </a:xfrm>
          <a:prstGeom prst="roundRect">
            <a:avLst>
              <a:gd name="adj" fmla="val 6486"/>
            </a:avLst>
          </a:prstGeom>
          <a:solidFill>
            <a:srgbClr val="262826"/>
          </a:solidFill>
          <a:ln w="19050">
            <a:solidFill>
              <a:srgbClr val="3A3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2825" y="5306219"/>
            <a:ext cx="3562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62825" y="5649119"/>
            <a:ext cx="356235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7476173" y="6284119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語彙＋意味＋型番で 一致確率を判定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82350" y="4963319"/>
            <a:ext cx="327720" cy="238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1567220" y="4963319"/>
            <a:ext cx="3810000" cy="2349500"/>
          </a:xfrm>
          <a:prstGeom prst="roundRect">
            <a:avLst>
              <a:gd name="adj" fmla="val 6486"/>
            </a:avLst>
          </a:prstGeom>
          <a:solidFill>
            <a:srgbClr val="262826"/>
          </a:solidFill>
          <a:ln w="19050">
            <a:solidFill>
              <a:srgbClr val="3A3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91045" y="5306219"/>
            <a:ext cx="3562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91045" y="5649119"/>
            <a:ext cx="356235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7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804392" y="6284119"/>
            <a:ext cx="3335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同一商品グループ へ統合する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24963"/>
            <a:ext cx="18288000" cy="1062038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966073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878509" y="9548813"/>
            <a:ext cx="1370206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既製APIを呼ぶだけのアプリと違い、ここを自分で設計・実装・評価できることが差別化になる。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66800"/>
            <a:ext cx="8650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2008088" y="590550"/>
            <a:ext cx="3753128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ブロッキング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648623" y="939800"/>
            <a:ext cx="2053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候補を絞り込む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16446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306564"/>
            <a:ext cx="7483971" cy="1765300"/>
          </a:xfrm>
          <a:prstGeom prst="roundRect">
            <a:avLst>
              <a:gd name="adj" fmla="val 7554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831" y="3554214"/>
            <a:ext cx="756180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全商品の総当たり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08831" y="3947914"/>
            <a:ext cx="7561808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08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08831" y="4506714"/>
            <a:ext cx="75618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破綻する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4681141" y="5224264"/>
            <a:ext cx="2933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047750" y="5852914"/>
            <a:ext cx="7483971" cy="1790700"/>
          </a:xfrm>
          <a:prstGeom prst="roundRect">
            <a:avLst>
              <a:gd name="adj" fmla="val 7447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8831" y="6100564"/>
            <a:ext cx="756180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似ていそうなペアだけ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8831" y="6494264"/>
            <a:ext cx="7561808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候補ペア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08831" y="7078464"/>
            <a:ext cx="756180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比較対象を激減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9007971" y="3782814"/>
            <a:ext cx="905550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2つの手法を組み合わせる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007971" y="4405114"/>
            <a:ext cx="8232279" cy="1271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007971" y="5670352"/>
            <a:ext cx="8232279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7971" y="4405114"/>
            <a:ext cx="8232279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7971" y="4405114"/>
            <a:ext cx="44450" cy="1271588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20" name="Shape 18"/>
          <p:cNvSpPr/>
          <p:nvPr/>
        </p:nvSpPr>
        <p:spPr>
          <a:xfrm>
            <a:off x="17233900" y="4405114"/>
            <a:ext cx="9525" cy="1271588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21" name="Text 19"/>
          <p:cNvSpPr/>
          <p:nvPr/>
        </p:nvSpPr>
        <p:spPr>
          <a:xfrm>
            <a:off x="9319121" y="4640064"/>
            <a:ext cx="8412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ルールベースのブロックキー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19121" y="5084564"/>
            <a:ext cx="841288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カテゴリ・ブランド・型番プレフィックスで束ねる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007971" y="5886252"/>
            <a:ext cx="8232279" cy="12811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7971" y="7161014"/>
            <a:ext cx="8232279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25" name="Shape 23"/>
          <p:cNvSpPr/>
          <p:nvPr/>
        </p:nvSpPr>
        <p:spPr>
          <a:xfrm>
            <a:off x="9007971" y="5886252"/>
            <a:ext cx="8232279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7971" y="5886252"/>
            <a:ext cx="44450" cy="1281113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27" name="Shape 25"/>
          <p:cNvSpPr/>
          <p:nvPr/>
        </p:nvSpPr>
        <p:spPr>
          <a:xfrm>
            <a:off x="17233900" y="5886252"/>
            <a:ext cx="9525" cy="1281113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28" name="Text 26"/>
          <p:cNvSpPr/>
          <p:nvPr/>
        </p:nvSpPr>
        <p:spPr>
          <a:xfrm>
            <a:off x="9319121" y="6121202"/>
            <a:ext cx="841288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軽量埋め込み＋近傍探索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319121" y="6565702"/>
            <a:ext cx="841288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A3D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 / hnswlib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で「似ていそうなペア」を抽出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0" y="9276954"/>
            <a:ext cx="18288000" cy="1010047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9680377"/>
            <a:ext cx="81686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評価観点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036068" y="9581754"/>
            <a:ext cx="9891961" cy="438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候補削減率 と 再現率（取りこぼし）のトレードオフを数値で記録する。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66800"/>
            <a:ext cx="8650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2008088" y="590550"/>
            <a:ext cx="314325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094188" y="939800"/>
            <a:ext cx="20535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一致を判定する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16446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6" name="Text 4"/>
          <p:cNvSpPr/>
          <p:nvPr/>
        </p:nvSpPr>
        <p:spPr>
          <a:xfrm>
            <a:off x="238125" y="4120356"/>
            <a:ext cx="178117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候補ペアごとに3種類の特徴量を作り、分類器で</a:t>
            </a:r>
            <a:pPr algn="ctr" indent="0" marL="0">
              <a:buNone/>
            </a:pPr>
            <a:r>
              <a:rPr lang="en-US" sz="2250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一致確率</a:t>
            </a:r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を出す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4818856"/>
            <a:ext cx="3495278" cy="2010966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5401" y="5104606"/>
            <a:ext cx="3299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語彙類似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5401" y="5428456"/>
            <a:ext cx="32999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表記の近さ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0400" y="5936456"/>
            <a:ext cx="308997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編集距離・ トークンJaccard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52578" y="4818856"/>
            <a:ext cx="287734" cy="2049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3663" y="4818856"/>
            <a:ext cx="3495278" cy="2010966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1314" y="5104606"/>
            <a:ext cx="3299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意味類似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71314" y="5428456"/>
            <a:ext cx="32999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意味の近さ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376313" y="5936456"/>
            <a:ext cx="308997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日本語埋め込みの コサイン類似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878491" y="4818856"/>
            <a:ext cx="287734" cy="2049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299575" y="4818856"/>
            <a:ext cx="3495278" cy="2010966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226" y="5104606"/>
            <a:ext cx="3299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構造一致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97226" y="5428456"/>
            <a:ext cx="32999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型番の一致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502226" y="5936456"/>
            <a:ext cx="308997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型番・属性の 一致フラグ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04404" y="4818856"/>
            <a:ext cx="457200" cy="2049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3594954" y="4818856"/>
            <a:ext cx="3645297" cy="2010966"/>
          </a:xfrm>
          <a:prstGeom prst="roundRect">
            <a:avLst>
              <a:gd name="adj" fmla="val 6631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685104" y="5104606"/>
            <a:ext cx="34649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分類器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685104" y="5428456"/>
            <a:ext cx="346499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一致確率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3795354" y="5936456"/>
            <a:ext cx="3244497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</a:t>
            </a:r>
            <a:pPr algn="ctr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（任意でFlax MLP）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0" y="9276954"/>
            <a:ext cx="18288000" cy="1010047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686727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878509" y="9581754"/>
            <a:ext cx="12153900" cy="438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型番の一致は「同一商品」の最強シグナル。正規化での型番抽出精度が全体を左右する。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66800"/>
            <a:ext cx="8650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2008088" y="590550"/>
            <a:ext cx="4387999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225778" y="939800"/>
            <a:ext cx="26227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グループへ統合する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16446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4008934"/>
            <a:ext cx="86823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ペア判定を、商品グループにまとめる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4650284"/>
            <a:ext cx="8129842" cy="455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閾値つきの</a:t>
            </a:r>
            <a:pPr algn="l" indent="0" marL="0">
              <a:lnSpc>
                <a:spcPct val="155000"/>
              </a:lnSpc>
              <a:buNone/>
            </a:pPr>
            <a:r>
              <a:rPr lang="en-US" sz="2025" b="1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連結成分</a:t>
            </a:r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A3D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networkx / scipy</a:t>
            </a:r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）を基本とする。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5296495"/>
            <a:ext cx="7893050" cy="1644650"/>
          </a:xfrm>
          <a:prstGeom prst="rect">
            <a:avLst/>
          </a:prstGeom>
          <a:solidFill>
            <a:srgbClr val="F8F1E2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5296495"/>
            <a:ext cx="44450" cy="1644650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0" name="Text 8"/>
          <p:cNvSpPr/>
          <p:nvPr/>
        </p:nvSpPr>
        <p:spPr>
          <a:xfrm>
            <a:off x="1377950" y="5544145"/>
            <a:ext cx="8004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設計上の論点：推移律の破綻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7950" y="5950546"/>
            <a:ext cx="749541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A=B、B=C と判定されても A≠C となる矛盾をどう扱うか。閾値設計とクラスタリング手法で対応し、判断を記録する。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55150" y="1673225"/>
            <a:ext cx="7785100" cy="7603728"/>
          </a:xfrm>
          <a:prstGeom prst="roundRect">
            <a:avLst>
              <a:gd name="adj" fmla="val 2004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9951" y="2485331"/>
            <a:ext cx="7175500" cy="597951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9276954"/>
            <a:ext cx="18288000" cy="1010047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15" name="Text 12"/>
          <p:cNvSpPr/>
          <p:nvPr/>
        </p:nvSpPr>
        <p:spPr>
          <a:xfrm>
            <a:off x="1047750" y="9686727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878509" y="9581754"/>
            <a:ext cx="12442577" cy="438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「どこで線を引くか」を自分で決め、理由を説明できる。これが面接で深掘りされる部分。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777583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「実質価格」で並べ替える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924598"/>
            <a:ext cx="16192500" cy="1562100"/>
          </a:xfrm>
          <a:prstGeom prst="roundRect">
            <a:avLst>
              <a:gd name="adj" fmla="val 10976"/>
            </a:avLst>
          </a:prstGeom>
          <a:solidFill>
            <a:srgbClr val="1B1D1B"/>
          </a:solidFill>
          <a:ln/>
        </p:spPr>
      </p:sp>
      <p:sp>
        <p:nvSpPr>
          <p:cNvPr id="6" name="Text 4"/>
          <p:cNvSpPr/>
          <p:nvPr/>
        </p:nvSpPr>
        <p:spPr>
          <a:xfrm>
            <a:off x="5032574" y="4445298"/>
            <a:ext cx="199072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7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実質負担額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070924" y="4400848"/>
            <a:ext cx="30886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532191" y="4445298"/>
            <a:ext cx="80010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484691" y="4400848"/>
            <a:ext cx="30886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F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8945960" y="4445298"/>
            <a:ext cx="159258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送料成分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622360" y="4400848"/>
            <a:ext cx="30886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8F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083628" y="4445298"/>
            <a:ext cx="238887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期待ポイント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047750" y="5905798"/>
            <a:ext cx="7981950" cy="1196975"/>
          </a:xfrm>
          <a:prstGeom prst="roundRect">
            <a:avLst>
              <a:gd name="adj" fmla="val 1114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2550" y="6172498"/>
            <a:ext cx="810958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送料成分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2550" y="6470948"/>
            <a:ext cx="8109585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3D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postageFlag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（無料／有料）に基づく簡易値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58300" y="5905798"/>
            <a:ext cx="7981950" cy="1196975"/>
          </a:xfrm>
          <a:prstGeom prst="roundRect">
            <a:avLst>
              <a:gd name="adj" fmla="val 11141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3100" y="6172498"/>
            <a:ext cx="810958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期待ポイント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63100" y="6470948"/>
            <a:ext cx="810958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 × (基本1% + 商品単位のポイント倍率)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0" y="9303445"/>
            <a:ext cx="18288000" cy="983556"/>
          </a:xfrm>
          <a:prstGeom prst="rect">
            <a:avLst/>
          </a:prstGeom>
          <a:solidFill>
            <a:srgbClr val="F8F1E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9303445"/>
            <a:ext cx="18288000" cy="25400"/>
          </a:xfrm>
          <a:prstGeom prst="rect">
            <a:avLst/>
          </a:prstGeom>
          <a:solidFill>
            <a:srgbClr val="E7D2A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9706273"/>
            <a:ext cx="63172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誠実さ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850926" y="9614595"/>
            <a:ext cx="1259635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送料実額・SPUはAPIで取れない。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u="sng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簡易モデル（近似）である旨を画面とREADMEに明示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する。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90944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差別化：精度を「数値で」語る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143000" cy="28575"/>
          </a:xfrm>
          <a:prstGeom prst="rect">
            <a:avLst/>
          </a:prstGeom>
          <a:solidFill>
            <a:srgbClr val="E7D2A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401219"/>
            <a:ext cx="8113490" cy="9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多くの応募者は既製APIを呼ぶだけで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指標を持たない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 名寄せ精度を定量化できることが、決め手になる。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4541044"/>
            <a:ext cx="7877175" cy="1235075"/>
          </a:xfrm>
          <a:prstGeom prst="roundRect">
            <a:avLst>
              <a:gd name="adj" fmla="val 10797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9850" y="4795044"/>
            <a:ext cx="80222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評価セット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9850" y="5125244"/>
            <a:ext cx="7511764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手作業で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200〜500ペア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の正解ラベル（同一／非同一）を作成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6004719"/>
            <a:ext cx="7877175" cy="1581150"/>
          </a:xfrm>
          <a:prstGeom prst="roundRect">
            <a:avLst>
              <a:gd name="adj" fmla="val 8434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9850" y="6258719"/>
            <a:ext cx="80222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アブレーション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9850" y="6588919"/>
            <a:ext cx="75117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語彙のみ → ＋意味埋め込み → ＋型番一致 と積み上げ、各段階を比較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63075" y="3351213"/>
            <a:ext cx="3843338" cy="1485900"/>
          </a:xfrm>
          <a:prstGeom prst="roundRect">
            <a:avLst>
              <a:gd name="adj" fmla="val 10256"/>
            </a:avLst>
          </a:prstGeom>
          <a:solidFill>
            <a:srgbClr val="34509B"/>
          </a:solidFill>
          <a:ln/>
        </p:spPr>
      </p:sp>
      <p:sp>
        <p:nvSpPr>
          <p:cNvPr id="13" name="Text 11"/>
          <p:cNvSpPr/>
          <p:nvPr/>
        </p:nvSpPr>
        <p:spPr>
          <a:xfrm>
            <a:off x="9380458" y="3636963"/>
            <a:ext cx="38085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80458" y="3998913"/>
            <a:ext cx="3808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適合率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3396913" y="3351213"/>
            <a:ext cx="3843338" cy="1485900"/>
          </a:xfrm>
          <a:prstGeom prst="roundRect">
            <a:avLst>
              <a:gd name="adj" fmla="val 10256"/>
            </a:avLst>
          </a:prstGeom>
          <a:solidFill>
            <a:srgbClr val="34509B"/>
          </a:solidFill>
          <a:ln/>
        </p:spPr>
      </p:sp>
      <p:sp>
        <p:nvSpPr>
          <p:cNvPr id="16" name="Text 14"/>
          <p:cNvSpPr/>
          <p:nvPr/>
        </p:nvSpPr>
        <p:spPr>
          <a:xfrm>
            <a:off x="13414296" y="3636963"/>
            <a:ext cx="38085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414296" y="3998913"/>
            <a:ext cx="3808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再現率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363075" y="5027613"/>
            <a:ext cx="7877175" cy="1657350"/>
          </a:xfrm>
          <a:prstGeom prst="roundRect">
            <a:avLst>
              <a:gd name="adj" fmla="val 9195"/>
            </a:avLst>
          </a:prstGeom>
          <a:solidFill>
            <a:srgbClr val="E7D2A0"/>
          </a:solidFill>
          <a:ln/>
        </p:spPr>
      </p:sp>
      <p:sp>
        <p:nvSpPr>
          <p:cNvPr id="19" name="Text 17"/>
          <p:cNvSpPr/>
          <p:nvPr/>
        </p:nvSpPr>
        <p:spPr>
          <a:xfrm>
            <a:off x="9178766" y="5351463"/>
            <a:ext cx="82457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4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score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78766" y="5694363"/>
            <a:ext cx="824579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で総合評価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363075" y="6875463"/>
            <a:ext cx="7877175" cy="760413"/>
          </a:xfrm>
          <a:prstGeom prst="roundRect">
            <a:avLst>
              <a:gd name="adj" fmla="val 17537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206706" y="7091363"/>
            <a:ext cx="81899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ブロッキングは「候補削減率 × 再現率」のトレードオフも記録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0" y="9263063"/>
            <a:ext cx="18288000" cy="1023938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7978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878509" y="9567863"/>
            <a:ext cx="1283079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「動く」だけでなく「どれだけ正確か」を言える。エンジニアとしての評価設計力を示す。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1102560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技術スタック ── データから画面まで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78856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6350" y="401716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取得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76350" y="427116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httpx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38738" y="378856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7338" y="401716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保存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367338" y="427116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DuckDB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9725" y="378856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58325" y="401716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正規化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458325" y="427116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SudachiPy / MeCab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20713" y="378856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9313" y="401716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ブロッキング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3549313" y="427116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/ hnswlib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5014119"/>
            <a:ext cx="3919537" cy="958850"/>
          </a:xfrm>
          <a:prstGeom prst="roundRect">
            <a:avLst>
              <a:gd name="adj" fmla="val 11921"/>
            </a:avLst>
          </a:prstGeom>
          <a:solidFill>
            <a:srgbClr val="ECEFF8"/>
          </a:solidFill>
          <a:ln w="19050">
            <a:solidFill>
              <a:srgbClr val="C3C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" y="52427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埋め込み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76350" y="5496719"/>
            <a:ext cx="3808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multilingual-e5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5138738" y="5014119"/>
            <a:ext cx="3919537" cy="958850"/>
          </a:xfrm>
          <a:prstGeom prst="roundRect">
            <a:avLst>
              <a:gd name="adj" fmla="val 11921"/>
            </a:avLst>
          </a:prstGeom>
          <a:solidFill>
            <a:srgbClr val="ECEFF8"/>
          </a:solidFill>
          <a:ln w="19050">
            <a:solidFill>
              <a:srgbClr val="C3C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338" y="52427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マッチング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5367338" y="5496719"/>
            <a:ext cx="3808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229725" y="5014119"/>
            <a:ext cx="3919537" cy="958850"/>
          </a:xfrm>
          <a:prstGeom prst="roundRect">
            <a:avLst>
              <a:gd name="adj" fmla="val 11921"/>
            </a:avLst>
          </a:prstGeom>
          <a:solidFill>
            <a:srgbClr val="ECEFF8"/>
          </a:solidFill>
          <a:ln w="19050">
            <a:solidFill>
              <a:srgbClr val="C3C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8325" y="52427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クラスタ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9458325" y="5496719"/>
            <a:ext cx="3808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/ scipy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3320713" y="5014119"/>
            <a:ext cx="3919537" cy="958850"/>
          </a:xfrm>
          <a:prstGeom prst="roundRect">
            <a:avLst>
              <a:gd name="adj" fmla="val 11921"/>
            </a:avLst>
          </a:prstGeom>
          <a:solidFill>
            <a:srgbClr val="ECEFF8"/>
          </a:solidFill>
          <a:ln w="19050">
            <a:solidFill>
              <a:srgbClr val="C3C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9313" y="52427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3549313" y="5496719"/>
            <a:ext cx="3808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047750" y="622061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76350" y="64492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フロント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276350" y="670321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138738" y="622061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338" y="64492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拡張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5367338" y="670321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MV3 / TS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229725" y="622061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58325" y="64492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デプロイ(B)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458325" y="670321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/ Railway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320713" y="6220619"/>
            <a:ext cx="3919537" cy="97790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9313" y="6449219"/>
            <a:ext cx="38085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デプロイ(F)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3549313" y="6703219"/>
            <a:ext cx="38085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0" y="9263063"/>
            <a:ext cx="18288000" cy="1023938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7978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878509" y="9567863"/>
            <a:ext cx="1251471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 → モデル → API → 画面 → デプロイ。一気通貫で「全部やった」を示せる構成。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845468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開発スケジュール ── 10週間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488289" y="1041400"/>
            <a:ext cx="16093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6/27 → 9/6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065091"/>
            <a:ext cx="9372600" cy="1143000"/>
          </a:xfrm>
          <a:prstGeom prst="roundRect">
            <a:avLst>
              <a:gd name="adj" fmla="val 10000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6350" y="4198441"/>
            <a:ext cx="98069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W1–W6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76350" y="4446091"/>
            <a:ext cx="980694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中核：エンティティ解決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76350" y="4858842"/>
            <a:ext cx="980694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6/27 – 8/7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0477500" y="4065091"/>
            <a:ext cx="3352800" cy="1143000"/>
          </a:xfrm>
          <a:prstGeom prst="rect">
            <a:avLst/>
          </a:prstGeom>
          <a:solidFill>
            <a:srgbClr val="D6E0F2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8000" y="4211142"/>
            <a:ext cx="32689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W7–W8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668000" y="4458792"/>
            <a:ext cx="32689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Webアプリ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668000" y="4846141"/>
            <a:ext cx="3268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8/8 – 8/21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887450" y="4065091"/>
            <a:ext cx="3352800" cy="1143000"/>
          </a:xfrm>
          <a:prstGeom prst="rect">
            <a:avLst/>
          </a:prstGeom>
          <a:solidFill>
            <a:srgbClr val="F8F1E2"/>
          </a:solidFill>
          <a:ln w="19050">
            <a:solidFill>
              <a:srgbClr val="E7D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77950" y="4211142"/>
            <a:ext cx="32689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W9–W10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077950" y="4458792"/>
            <a:ext cx="32689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拡張・仕上げ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077950" y="4846141"/>
            <a:ext cx="3268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8/22 – 9/6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47750" y="5493841"/>
            <a:ext cx="5270500" cy="1442045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4450" y="5741491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W1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14450" y="6039942"/>
            <a:ext cx="5210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最薄スライスを初デプロイ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14450" y="6408241"/>
            <a:ext cx="521081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端から端まで一度通し、公開URLで動作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6508750" y="5493841"/>
            <a:ext cx="5270500" cy="1442045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450" y="5741491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W4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450" y="6039942"/>
            <a:ext cx="5210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測定可能なベースライン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75450" y="6408241"/>
            <a:ext cx="521081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71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 P/R/F1 を算出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969751" y="5493841"/>
            <a:ext cx="5270500" cy="1442045"/>
          </a:xfrm>
          <a:prstGeom prst="roundRect">
            <a:avLst>
              <a:gd name="adj" fmla="val 9247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36451" y="5741491"/>
            <a:ext cx="521081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W8 — 8/21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236451" y="6039942"/>
            <a:ext cx="5210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Webアプリ v1 デプロイ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36451" y="6408241"/>
            <a:ext cx="521081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面接で提示できる最重要成果物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0" y="9276954"/>
            <a:ext cx="18288000" cy="1010047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9680377"/>
            <a:ext cx="81686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設計意図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036068" y="9581754"/>
            <a:ext cx="13746699" cy="438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最重要成果物を 8/21 に前倒し。夏インターンと重なって時間が削られても、削るのは拡張機能だけ。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777583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進め方：最薄スライス先行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245769"/>
            <a:ext cx="13620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8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積み上げ式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57450" y="3796506"/>
            <a:ext cx="6501110" cy="247650"/>
          </a:xfrm>
          <a:prstGeom prst="roundRect">
            <a:avLst>
              <a:gd name="adj" fmla="val 26923"/>
            </a:avLst>
          </a:prstGeom>
          <a:solidFill>
            <a:srgbClr val="F4E3E0"/>
          </a:solidFill>
          <a:ln/>
        </p:spPr>
      </p:sp>
      <p:sp>
        <p:nvSpPr>
          <p:cNvPr id="7" name="Shape 5"/>
          <p:cNvSpPr/>
          <p:nvPr/>
        </p:nvSpPr>
        <p:spPr>
          <a:xfrm>
            <a:off x="2457450" y="4091781"/>
            <a:ext cx="6501110" cy="247650"/>
          </a:xfrm>
          <a:prstGeom prst="roundRect">
            <a:avLst>
              <a:gd name="adj" fmla="val 26923"/>
            </a:avLst>
          </a:prstGeom>
          <a:solidFill>
            <a:srgbClr val="F4E3E0"/>
          </a:solidFill>
          <a:ln/>
        </p:spPr>
      </p:sp>
      <p:sp>
        <p:nvSpPr>
          <p:cNvPr id="8" name="Shape 6"/>
          <p:cNvSpPr/>
          <p:nvPr/>
        </p:nvSpPr>
        <p:spPr>
          <a:xfrm>
            <a:off x="2457450" y="4387056"/>
            <a:ext cx="6501110" cy="247650"/>
          </a:xfrm>
          <a:prstGeom prst="roundRect">
            <a:avLst>
              <a:gd name="adj" fmla="val 26923"/>
            </a:avLst>
          </a:prstGeom>
          <a:solidFill>
            <a:srgbClr val="F4E3E0"/>
          </a:solidFill>
          <a:ln/>
        </p:spPr>
      </p:sp>
      <p:sp>
        <p:nvSpPr>
          <p:cNvPr id="9" name="Shape 7"/>
          <p:cNvSpPr/>
          <p:nvPr/>
        </p:nvSpPr>
        <p:spPr>
          <a:xfrm>
            <a:off x="2457450" y="4682331"/>
            <a:ext cx="6501110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6350">
            <a:solidFill>
              <a:srgbClr val="C0853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366283" y="4688681"/>
            <a:ext cx="668344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08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最後まで動くものが無い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52209" y="5101432"/>
            <a:ext cx="87018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7750" y="5887244"/>
            <a:ext cx="131445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 最薄スライス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57450" y="5552281"/>
            <a:ext cx="1262063" cy="1076325"/>
          </a:xfrm>
          <a:prstGeom prst="roundRect">
            <a:avLst>
              <a:gd name="adj" fmla="val 6195"/>
            </a:avLst>
          </a:prstGeom>
          <a:solidFill>
            <a:srgbClr val="34509B"/>
          </a:solidFill>
          <a:ln/>
        </p:spPr>
      </p:sp>
      <p:sp>
        <p:nvSpPr>
          <p:cNvPr id="14" name="Text 12"/>
          <p:cNvSpPr/>
          <p:nvPr/>
        </p:nvSpPr>
        <p:spPr>
          <a:xfrm>
            <a:off x="2419350" y="5552281"/>
            <a:ext cx="1338262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7138" y="5552281"/>
            <a:ext cx="1262162" cy="1076325"/>
          </a:xfrm>
          <a:prstGeom prst="roundRect">
            <a:avLst>
              <a:gd name="adj" fmla="val 6195"/>
            </a:avLst>
          </a:prstGeom>
          <a:solidFill>
            <a:srgbClr val="3F5BA6"/>
          </a:solidFill>
          <a:ln/>
        </p:spPr>
      </p:sp>
      <p:sp>
        <p:nvSpPr>
          <p:cNvPr id="16" name="Text 14"/>
          <p:cNvSpPr/>
          <p:nvPr/>
        </p:nvSpPr>
        <p:spPr>
          <a:xfrm>
            <a:off x="3729038" y="5552281"/>
            <a:ext cx="1338362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名寄せ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6924" y="5552281"/>
            <a:ext cx="1262063" cy="1076325"/>
          </a:xfrm>
          <a:prstGeom prst="roundRect">
            <a:avLst>
              <a:gd name="adj" fmla="val 6195"/>
            </a:avLst>
          </a:prstGeom>
          <a:solidFill>
            <a:srgbClr val="4A66B0"/>
          </a:solidFill>
          <a:ln/>
        </p:spPr>
      </p:sp>
      <p:sp>
        <p:nvSpPr>
          <p:cNvPr id="18" name="Text 16"/>
          <p:cNvSpPr/>
          <p:nvPr/>
        </p:nvSpPr>
        <p:spPr>
          <a:xfrm>
            <a:off x="5038824" y="5552281"/>
            <a:ext cx="1338262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価格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86612" y="5552281"/>
            <a:ext cx="1262162" cy="1076325"/>
          </a:xfrm>
          <a:prstGeom prst="roundRect">
            <a:avLst>
              <a:gd name="adj" fmla="val 6195"/>
            </a:avLst>
          </a:prstGeom>
          <a:solidFill>
            <a:srgbClr val="556FBA"/>
          </a:solidFill>
          <a:ln/>
        </p:spPr>
      </p:sp>
      <p:sp>
        <p:nvSpPr>
          <p:cNvPr id="20" name="Text 18"/>
          <p:cNvSpPr/>
          <p:nvPr/>
        </p:nvSpPr>
        <p:spPr>
          <a:xfrm>
            <a:off x="6348512" y="5552281"/>
            <a:ext cx="1338362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96399" y="5552281"/>
            <a:ext cx="1262162" cy="1076325"/>
          </a:xfrm>
          <a:prstGeom prst="roundRect">
            <a:avLst>
              <a:gd name="adj" fmla="val 6195"/>
            </a:avLst>
          </a:prstGeom>
          <a:solidFill>
            <a:srgbClr val="E7D2A0"/>
          </a:solidFill>
          <a:ln/>
        </p:spPr>
      </p:sp>
      <p:sp>
        <p:nvSpPr>
          <p:cNvPr id="22" name="Text 20"/>
          <p:cNvSpPr/>
          <p:nvPr/>
        </p:nvSpPr>
        <p:spPr>
          <a:xfrm>
            <a:off x="7658299" y="5552281"/>
            <a:ext cx="1338362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デプロイ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2209" y="6876256"/>
            <a:ext cx="87018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W1で全層を一度貫通 → W2以降で各層を本実装に差し替え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434810" y="1724025"/>
            <a:ext cx="7805440" cy="7539037"/>
          </a:xfrm>
          <a:prstGeom prst="roundRect">
            <a:avLst>
              <a:gd name="adj" fmla="val 2021"/>
            </a:avLst>
          </a:prstGeom>
          <a:solidFill>
            <a:srgbClr val="1B1D1B"/>
          </a:solidFill>
          <a:ln/>
        </p:spPr>
      </p:sp>
      <p:sp>
        <p:nvSpPr>
          <p:cNvPr id="25" name="Text 23"/>
          <p:cNvSpPr/>
          <p:nvPr/>
        </p:nvSpPr>
        <p:spPr>
          <a:xfrm>
            <a:off x="9777710" y="4410869"/>
            <a:ext cx="783160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の最小実装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77710" y="4855369"/>
            <a:ext cx="2134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29230" y="4855369"/>
            <a:ext cx="1447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15130" y="4855369"/>
            <a:ext cx="22631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型番の完全一致のみ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77710" y="5318919"/>
            <a:ext cx="2134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29230" y="5318919"/>
            <a:ext cx="250765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UIは素のHTMLテーブル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77710" y="5782469"/>
            <a:ext cx="2134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29230" y="5782469"/>
            <a:ext cx="436895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バックエンド＋フロントを各1回デプロイ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77710" y="6246019"/>
            <a:ext cx="2134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29230" y="6246019"/>
            <a:ext cx="76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目的は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829330" y="6246019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精度でなく不確実性の除去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9263063"/>
            <a:ext cx="18288000" cy="1023938"/>
          </a:xfrm>
          <a:prstGeom prst="rect">
            <a:avLst/>
          </a:prstGeom>
          <a:solidFill>
            <a:srgbClr val="34509B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79781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878509" y="9567863"/>
            <a:ext cx="1268617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統合・デプロイの不確実性を初週に潰す。「名寄せの沼で、動くアプリが無い」を避ける。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73150"/>
            <a:ext cx="37345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35509" y="590550"/>
            <a:ext cx="969048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1B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AI駆動開発 ── 広さと深さの分担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695450"/>
            <a:ext cx="16192500" cy="28575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1724025"/>
            <a:ext cx="7748191" cy="7552929"/>
          </a:xfrm>
          <a:prstGeom prst="roundRect">
            <a:avLst>
              <a:gd name="adj" fmla="val 2018"/>
            </a:avLst>
          </a:prstGeom>
          <a:solidFill>
            <a:srgbClr val="F8F8F5"/>
          </a:solidFill>
          <a:ln w="19050">
            <a:solidFill>
              <a:srgbClr val="E4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0650" y="2085975"/>
            <a:ext cx="77686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63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AIに任せる ── 広さ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390650" y="2549525"/>
            <a:ext cx="21520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43955" y="2549525"/>
            <a:ext cx="460124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React の足場、比較テーブルUI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90650" y="3080048"/>
            <a:ext cx="21520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43955" y="3080048"/>
            <a:ext cx="571486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APIクライアント、スロットリング、デプロイ設定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90650" y="3610570"/>
            <a:ext cx="21520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3955" y="3610570"/>
            <a:ext cx="4638339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Chrome拡張のボイラープレート、CORS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90650" y="4141093"/>
            <a:ext cx="21520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43955" y="4141093"/>
            <a:ext cx="330591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テストの叩き台、リファクタ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38841" y="1724025"/>
            <a:ext cx="8101410" cy="7552929"/>
          </a:xfrm>
          <a:prstGeom prst="roundRect">
            <a:avLst>
              <a:gd name="adj" fmla="val 2018"/>
            </a:avLst>
          </a:prstGeom>
          <a:solidFill>
            <a:srgbClr val="ECEFF8"/>
          </a:solidFill>
          <a:ln w="19050">
            <a:solidFill>
              <a:srgbClr val="3450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81741" y="2085975"/>
            <a:ext cx="815717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63" kern="0" dirty="0">
                <a:solidFill>
                  <a:srgbClr val="345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自分が握る ── 深さ・説明責任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481741" y="2549525"/>
            <a:ext cx="2183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38221" y="2549525"/>
            <a:ext cx="531589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アーキテクチャ、モジュール境界、データ契約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81741" y="3080048"/>
            <a:ext cx="2183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738221" y="3080048"/>
            <a:ext cx="32689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名寄せロジックの設計判断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481741" y="3610570"/>
            <a:ext cx="2183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738221" y="3610570"/>
            <a:ext cx="6290648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評価設計（評価セット・P/R/F1・アブレーション）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81741" y="4141093"/>
            <a:ext cx="218380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4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738221" y="4141093"/>
            <a:ext cx="592426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8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データに関する判断（価格差で本当に現れるか 等）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0" y="9276954"/>
            <a:ext cx="18288000" cy="1010047"/>
          </a:xfrm>
          <a:prstGeom prst="rect">
            <a:avLst/>
          </a:prstGeom>
          <a:solidFill>
            <a:srgbClr val="1B1D1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6727"/>
            <a:ext cx="65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78509" y="9581754"/>
            <a:ext cx="15639088" cy="438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面接で深掘りされるのは右側。「どう設計・分解・レビュー・検証して使いこなしたか」を語れることが評価対象。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4572000"/>
            <a:ext cx="6477000" cy="6477000"/>
          </a:xfrm>
          <a:prstGeom prst="rect">
            <a:avLst/>
          </a:prstGeom>
          <a:gradFill rotWithShape="1">
            <a:gsLst>
              <a:gs pos="0">
                <a:srgbClr val="34509B">
                  <a:alpha val="34000"/>
                </a:srgbClr>
              </a:gs>
              <a:gs pos="62000">
                <a:srgbClr val="3450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332559"/>
            <a:ext cx="1739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E7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── このポートフォリオが示すもの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238250" y="3808809"/>
            <a:ext cx="16285845" cy="172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50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楽天の課題を、楽天のAPIで。 エンティティ解決で、一気通貫に。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238250" y="5976541"/>
            <a:ext cx="3174702" cy="977900"/>
          </a:xfrm>
          <a:prstGeom prst="roundRect">
            <a:avLst>
              <a:gd name="adj" fmla="val 11688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1300" y="6173391"/>
            <a:ext cx="289146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提出物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11300" y="6408341"/>
            <a:ext cx="28914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公開Webアプリ（URL）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584402" y="5976541"/>
            <a:ext cx="2532162" cy="977900"/>
          </a:xfrm>
          <a:prstGeom prst="roundRect">
            <a:avLst>
              <a:gd name="adj" fmla="val 11688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452" y="6173391"/>
            <a:ext cx="218466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提出物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57452" y="6408341"/>
            <a:ext cx="21846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ソース一式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7288014" y="5976541"/>
            <a:ext cx="2517378" cy="977900"/>
          </a:xfrm>
          <a:prstGeom prst="roundRect">
            <a:avLst>
              <a:gd name="adj" fmla="val 11688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1064" y="6173391"/>
            <a:ext cx="216840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提出物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61064" y="6408341"/>
            <a:ext cx="216840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指標つきREADME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76842" y="5976541"/>
            <a:ext cx="3020318" cy="977900"/>
          </a:xfrm>
          <a:prstGeom prst="roundRect">
            <a:avLst>
              <a:gd name="adj" fmla="val 11688"/>
            </a:avLst>
          </a:prstGeom>
          <a:solidFill>
            <a:srgbClr val="262826"/>
          </a:solidFill>
          <a:ln w="6350">
            <a:solidFill>
              <a:srgbClr val="3A3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9893" y="6173391"/>
            <a:ext cx="27216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提出物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9893" y="6408341"/>
            <a:ext cx="27216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B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Chrome拡張 / デモ録画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38250" y="9486900"/>
            <a:ext cx="42622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同一商品 横断比較アプリ / Proposal v1.2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975186" y="9486900"/>
            <a:ext cx="22820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717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2026.06.27 → 09.06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2026-06-27T09:48:12Z</dcterms:created>
  <dcterms:modified xsi:type="dcterms:W3CDTF">2026-06-27T09:48:12Z</dcterms:modified>
</cp:coreProperties>
</file>